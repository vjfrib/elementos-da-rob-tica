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image" Target="../media/image-4-1.png"/><Relationship Id="rId9" Type="http://schemas.openxmlformats.org/officeDocument/2006/relationships/image" Target="../media/image-4-2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.png"/><Relationship Id="rId13" Type="http://schemas.openxmlformats.org/officeDocument/2006/relationships/image" Target="../media/image-4-2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image" Target="../media/image-4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431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Viabilidade CapiBot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868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do escopo para criação de gêmeo digital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984971"/>
            <a:ext cx="110423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0174" y="3027462"/>
            <a:ext cx="139132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CAPIBOT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63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CoppeliaSim — O que já é possível simular?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1607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Virtual first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254523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250132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Vision Sensor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2556644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Substitui o ESP32-CAM na simulação — detecção de objetos e linhas em ambiente virtual.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684" y="2254523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1250" y="2250132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Proximity Sensors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21250" y="2556644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Emulam o TCRT5000 para seguimento de linha e detecção de obstáculos.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50" y="3298180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3293790"/>
            <a:ext cx="7691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Juntas Articuladas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56816" y="3600301"/>
            <a:ext cx="7691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Simulam garra e motores com física realista antes da construção física.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685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Estudo de Viabilidade &amp; Componentes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16546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Comparativo de Abordagens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50603"/>
            <a:ext cx="8151763" cy="1649611"/>
          </a:xfrm>
          <a:prstGeom prst="roundRect">
            <a:avLst>
              <a:gd name="adj" fmla="val 36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26419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67540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08662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57910" y="1850603"/>
            <a:ext cx="8860" cy="16496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86313" y="1850603"/>
            <a:ext cx="8860" cy="16496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014716" y="1850603"/>
            <a:ext cx="8860" cy="16496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89" y="1945184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Abordagem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02050" y="1945184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0453" y="1945184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58856" y="1945184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89" y="2356396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Digital (atual)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02050" y="2356396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0453" y="2356396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8856" y="2356396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Difícil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89" y="2767608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Gêmeo Digital simplificado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02050" y="276760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Média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0453" y="2767608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Médio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8856" y="2767608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Viável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2789" y="3178820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Simulação isolada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02050" y="3178820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0453" y="3178820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58856" y="3178820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Muito fácil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6119" y="3659684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B6FCB8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860453"/>
            <a:ext cx="177180" cy="141759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56816" y="383686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escolha atual (Gêmeo digital simplificado) é estrategicamente viável e tecnicamente fundamentada.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179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Sensores e Atuadores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8225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Percepção — Entradas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38560"/>
            <a:ext cx="3929955" cy="108458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523" y="1791146"/>
            <a:ext cx="179412" cy="1794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9720" y="1472431"/>
            <a:ext cx="320248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ESP32-CAM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089720" y="1760190"/>
            <a:ext cx="320248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Controlador principal com visão computacional embarcada. Detecta resíduos e reconhece bocas de lobo via processamento de imagem em tempo real.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524051"/>
            <a:ext cx="3929955" cy="108458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23" y="2976637"/>
            <a:ext cx="179412" cy="17941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89720" y="2657921"/>
            <a:ext cx="320248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TCRT5000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1089720" y="2945681"/>
            <a:ext cx="320248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Seguidor de linha infravermelho. Mantém o robô na rota pré-definida sobre o asfalto, detectando a linha de referência.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722688" y="1038225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Atuação — Saídas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2688" y="1338560"/>
            <a:ext cx="3929955" cy="108458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84093" y="1791146"/>
            <a:ext cx="179412" cy="17941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16289" y="1472431"/>
            <a:ext cx="320248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2x Motores DC com Redução</a:t>
            </a:r>
            <a:endParaRPr lang="en-US" sz="1150" dirty="0"/>
          </a:p>
        </p:txBody>
      </p:sp>
      <p:sp>
        <p:nvSpPr>
          <p:cNvPr id="16" name="Text 8"/>
          <p:cNvSpPr/>
          <p:nvPr/>
        </p:nvSpPr>
        <p:spPr>
          <a:xfrm>
            <a:off x="5316289" y="1760190"/>
            <a:ext cx="320248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Tração diferencial para navegação e curvas. Controlados via Ponte H L298N para controle independente de cada roda.</a:t>
            </a:r>
            <a:endParaRPr lang="en-US" sz="9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22688" y="2524051"/>
            <a:ext cx="3929955" cy="108458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84093" y="2976637"/>
            <a:ext cx="179412" cy="17941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316289" y="2657921"/>
            <a:ext cx="320248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Garra Robótica (4x Servo SG90)</a:t>
            </a:r>
            <a:endParaRPr lang="en-US" sz="1150" dirty="0"/>
          </a:p>
        </p:txBody>
      </p:sp>
      <p:sp>
        <p:nvSpPr>
          <p:cNvPr id="20" name="Text 10"/>
          <p:cNvSpPr/>
          <p:nvPr/>
        </p:nvSpPr>
        <p:spPr>
          <a:xfrm>
            <a:off x="5316289" y="2945681"/>
            <a:ext cx="3202484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impressa em 3D com servos SG90. Aciona coleta de resíduos pequenos e médios próximos ao bueiro.</a:t>
            </a:r>
            <a:endParaRPr lang="en-US" sz="9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22688" y="3709541"/>
            <a:ext cx="3929955" cy="908224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84093" y="4073947"/>
            <a:ext cx="179412" cy="17941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316289" y="3843412"/>
            <a:ext cx="320248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PCA9685</a:t>
            </a:r>
            <a:endParaRPr lang="en-US" sz="1150" dirty="0"/>
          </a:p>
        </p:txBody>
      </p:sp>
      <p:sp>
        <p:nvSpPr>
          <p:cNvPr id="24" name="Text 12"/>
          <p:cNvSpPr/>
          <p:nvPr/>
        </p:nvSpPr>
        <p:spPr>
          <a:xfrm>
            <a:off x="5316289" y="4131171"/>
            <a:ext cx="320248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Controlador PWM para coordenação precisa dos servos da garra robótica.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6336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Estudo de Viabilidade &amp; Componentes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852041"/>
            <a:ext cx="815176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Tabela de Componentes (Versão Otimizada)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181249"/>
            <a:ext cx="8151763" cy="2986832"/>
          </a:xfrm>
          <a:prstGeom prst="roundRect">
            <a:avLst>
              <a:gd name="adj" fmla="val 165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186011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18381" y="1249040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84762" y="1249040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Qtde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06045" y="1249040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 (R$)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41568" y="1249040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0881" y="1483742"/>
            <a:ext cx="8142238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8381" y="1546771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Chassi 2 rodas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84762" y="1546771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06045" y="1546771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41568" y="1546771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0881" y="1781473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8381" y="1844501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Motores DC ou Brushless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84762" y="1844501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06045" y="1844501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R$ 30 até 60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41568" y="1844501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0881" y="2079203"/>
            <a:ext cx="8142238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8381" y="2142232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 H L298N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84762" y="2142232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06045" y="2142232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R$ 8 até 30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41568" y="2142232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Mantido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0881" y="2376934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18381" y="2439963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Servos SG90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84762" y="2439963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06045" y="2439963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41568" y="2439963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Otimizado 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0881" y="2674665"/>
            <a:ext cx="8142238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8381" y="2737693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Garra 3D (TPU+PLA)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84762" y="2737693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06045" y="2737693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R$ 40 (aprox.)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41568" y="2737693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Mantido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0881" y="2972395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8381" y="3035424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PCA9685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84762" y="3035424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06045" y="3035424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41568" y="3035424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Mantido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0881" y="3270126"/>
            <a:ext cx="8142238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18381" y="3333155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ESP32-CAM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84762" y="3333155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06045" y="3333155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41568" y="3333155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Mantido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0881" y="3567857"/>
            <a:ext cx="8142238" cy="29773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18381" y="3630885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Baterias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84762" y="3630885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06045" y="3630885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41568" y="3630885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Otimizado ↓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0881" y="3865587"/>
            <a:ext cx="8142238" cy="2977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18381" y="3928616"/>
            <a:ext cx="388411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TCRT5000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84762" y="3928616"/>
            <a:ext cx="143901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06045" y="3928616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41568" y="3928616"/>
            <a:ext cx="14414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Mantido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6119" y="4277395"/>
            <a:ext cx="8151763" cy="419695"/>
          </a:xfrm>
          <a:prstGeom prst="roundRect">
            <a:avLst>
              <a:gd name="adj" fmla="val 11749"/>
            </a:avLst>
          </a:prstGeom>
          <a:solidFill>
            <a:srgbClr val="B6D6FC"/>
          </a:solidFill>
          <a:ln/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70" y="4435673"/>
            <a:ext cx="146745" cy="117351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77565" y="4403899"/>
            <a:ext cx="8110165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original: R$ 350–450 →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Novo custo: ~R$ 250–330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Redução via menos servos (6→4) e menos baterias (4→2).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564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 &amp; Andamento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00533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Cronograma — 5 Semanas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439391"/>
            <a:ext cx="815176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5298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6419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67540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08662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49783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36478" y="1439391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979119" y="1439391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14" y="1533971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80618" y="1533971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Entrega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3259" y="1533971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1945184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1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0618" y="1945184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3259" y="1945184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do ambiente no CoppeliaSim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2356396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Semana 2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80618" y="2356396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🚗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Seguidor de linha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3259" y="2356396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4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Implementação virtual do seguidor de linha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714" y="2767608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80618" y="2767608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🦾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3259" y="2767608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virtual da garra robótica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2714" y="3178820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80618" y="3178820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👁️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Visão Computacional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3259" y="3178820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de objetos com ESP32-CAM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2714" y="3590032"/>
            <a:ext cx="2206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80618" y="3590032"/>
            <a:ext cx="26115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3259" y="3590032"/>
            <a:ext cx="38353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Otimização e integração dos sistemas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6119" y="4070896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B6FCB8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271665"/>
            <a:ext cx="177180" cy="141759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56816" y="4248076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atual: Semana 2 concluída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Fundação sólida para as semanas 3, 4 e 5.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353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de Longo Prazo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815876"/>
            <a:ext cx="8151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Shadow Digital → Gêmeo Digital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78805" y="1285056"/>
            <a:ext cx="7969002" cy="121816"/>
          </a:xfrm>
          <a:prstGeom prst="roundRect">
            <a:avLst>
              <a:gd name="adj" fmla="val 420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163203"/>
            <a:ext cx="365447" cy="365447"/>
          </a:xfrm>
          <a:prstGeom prst="ellipse">
            <a:avLst/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499" y="1254584"/>
            <a:ext cx="182687" cy="1826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934" y="1633314"/>
            <a:ext cx="7908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1 — Shadow Digital (Atual)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7934" y="1886471"/>
            <a:ext cx="790813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Simulação validada no CoppeliaSim. Algoritmos testados sem custo de hardware. Semanas 1 e 2 parcialmente concluídas.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61492" y="2415927"/>
            <a:ext cx="7786315" cy="121816"/>
          </a:xfrm>
          <a:prstGeom prst="roundRect">
            <a:avLst>
              <a:gd name="adj" fmla="val 420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8805" y="2294074"/>
            <a:ext cx="365447" cy="365447"/>
          </a:xfrm>
          <a:prstGeom prst="ellipse">
            <a:avLst/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186" y="2385454"/>
            <a:ext cx="182687" cy="1826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621" y="2764185"/>
            <a:ext cx="772544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2 — Protótipo Físico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00621" y="3017341"/>
            <a:ext cx="772544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Construção do CapiBot real com todos os componentes integrados. Validação em ambiente controlado.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1044253" y="3546797"/>
            <a:ext cx="7603554" cy="121816"/>
          </a:xfrm>
          <a:prstGeom prst="roundRect">
            <a:avLst>
              <a:gd name="adj" fmla="val 420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1566" y="3424944"/>
            <a:ext cx="365447" cy="365447"/>
          </a:xfrm>
          <a:prstGeom prst="ellipse">
            <a:avLst/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946" y="3516325"/>
            <a:ext cx="182687" cy="1826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3382" y="3895055"/>
            <a:ext cx="75426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3 — Gêmeo Digital Completo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983382" y="4148212"/>
            <a:ext cx="754268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Conexão bidirecional real 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↔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virtual. Monitoramento em tempo real, predição de falhas e atualização contínua do modelo.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267519" y="4568949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56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Sugestões de melhoria além do CoppeliaSim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532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Uso de Inteligência computacional para maximizar eficiência e economia.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08720" y="2001143"/>
            <a:ext cx="7939088" cy="141759"/>
          </a:xfrm>
          <a:prstGeom prst="roundRect">
            <a:avLst>
              <a:gd name="adj" fmla="val 42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59347"/>
            <a:ext cx="425276" cy="425276"/>
          </a:xfrm>
          <a:prstGeom prst="ellipse">
            <a:avLst/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456" y="1965685"/>
            <a:ext cx="212601" cy="212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7" y="2426419"/>
            <a:ext cx="7868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Aprendizado contínuo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2732931"/>
            <a:ext cx="7868245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Detecção inteligente de resíduos (Visão Computacional)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​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modelos de </a:t>
            </a:r>
            <a:pPr algn="l" marL="223520" indent="-223520">
              <a:lnSpc>
                <a:spcPct val="133000"/>
              </a:lnSpc>
              <a:buSzPct val="100000"/>
              <a:buChar char="​"/>
            </a:pPr>
            <a:r>
              <a:rPr lang="en-US" sz="1100" u="sng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pPr algn="l" marL="223520" indent="-223520">
              <a:lnSpc>
                <a:spcPct val="133000"/>
              </a:lnSpc>
              <a:buSzPct val="100000"/>
              <a:buChar char="​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melhorar a </a:t>
            </a:r>
            <a:pPr algn="l" marL="223520" indent="-223520">
              <a:lnSpc>
                <a:spcPct val="133000"/>
              </a:lnSpc>
              <a:buSzPct val="100000"/>
              <a:buChar char="​"/>
            </a:pPr>
            <a:r>
              <a:rPr lang="en-US" sz="1100" u="sng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de lixo</a:t>
            </a:r>
            <a:pPr algn="l" marL="223520" indent="-223520">
              <a:lnSpc>
                <a:spcPct val="133000"/>
              </a:lnSpc>
              <a:buSzPct val="100000"/>
              <a:buChar char="​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bueiros em cenários reais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Otimização de trajetória baseada em aprendizado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​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Algoritmos que aprendem padrões de rotas mais eficientes ao longo do tempo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7519" y="399097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2026-07-14T06:33:43Z</dcterms:created>
  <dcterms:modified xsi:type="dcterms:W3CDTF">2026-07-14T06:33:43Z</dcterms:modified>
</cp:coreProperties>
</file>